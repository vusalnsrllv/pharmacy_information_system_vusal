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8"/>
  </p:notesMasterIdLst>
  <p:sldIdLst>
    <p:sldId id="340" r:id="rId2"/>
    <p:sldId id="351" r:id="rId3"/>
    <p:sldId id="266" r:id="rId4"/>
    <p:sldId id="259" r:id="rId5"/>
    <p:sldId id="353" r:id="rId6"/>
    <p:sldId id="354" r:id="rId7"/>
  </p:sldIdLst>
  <p:sldSz cx="9144000" cy="5143500" type="screen16x9"/>
  <p:notesSz cx="6858000" cy="9144000"/>
  <p:embeddedFontLst>
    <p:embeddedFont>
      <p:font typeface="IBM Plex Sans Medium" panose="020B0604020202020204" charset="0"/>
      <p:regular r:id="rId9"/>
      <p:bold r:id="rId10"/>
      <p:italic r:id="rId11"/>
      <p:boldItalic r:id="rId12"/>
    </p:embeddedFont>
    <p:embeddedFont>
      <p:font typeface="IBM Plex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C99B13-5452-4118-9E25-07AD9C9B5CEA}">
  <a:tblStyle styleId="{A2C99B13-5452-4118-9E25-07AD9C9B5C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615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3808d40dd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3808d40dd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37fc7cce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37fc7cce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3106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137fc7cce3d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137fc7cce3d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599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54800" y="1094250"/>
            <a:ext cx="3090300" cy="22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54800" y="3372150"/>
            <a:ext cx="30903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 rot="10800000" flipH="1">
            <a:off x="-406075" y="-598225"/>
            <a:ext cx="2711400" cy="27114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849300" y="515400"/>
            <a:ext cx="7445400" cy="41127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297400" y="1352425"/>
            <a:ext cx="4319100" cy="17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527500" y="2146350"/>
            <a:ext cx="1639500" cy="841800"/>
          </a:xfrm>
          <a:prstGeom prst="rect">
            <a:avLst/>
          </a:prstGeom>
          <a:effectLst>
            <a:outerShdw blurRad="142875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297400" y="3015800"/>
            <a:ext cx="30687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328350" y="3015800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1765267" y="783850"/>
            <a:ext cx="1160092" cy="63948"/>
            <a:chOff x="3779200" y="1371600"/>
            <a:chExt cx="1992600" cy="109500"/>
          </a:xfrm>
        </p:grpSpPr>
        <p:sp>
          <p:nvSpPr>
            <p:cNvPr id="19" name="Google Shape;19;p3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4819925" y="4070513"/>
            <a:ext cx="4324075" cy="899525"/>
            <a:chOff x="-55375" y="2531100"/>
            <a:chExt cx="4324075" cy="899525"/>
          </a:xfrm>
        </p:grpSpPr>
        <p:sp>
          <p:nvSpPr>
            <p:cNvPr id="26" name="Google Shape;26;p3"/>
            <p:cNvSpPr/>
            <p:nvPr/>
          </p:nvSpPr>
          <p:spPr>
            <a:xfrm>
              <a:off x="88975" y="2531100"/>
              <a:ext cx="4179725" cy="723025"/>
            </a:xfrm>
            <a:custGeom>
              <a:avLst/>
              <a:gdLst/>
              <a:ahLst/>
              <a:cxnLst/>
              <a:rect l="l" t="t" r="r" b="b"/>
              <a:pathLst>
                <a:path w="167189" h="28921" fill="none" extrusionOk="0">
                  <a:moveTo>
                    <a:pt x="1" y="28921"/>
                  </a:moveTo>
                  <a:lnTo>
                    <a:pt x="23813" y="5120"/>
                  </a:lnTo>
                  <a:lnTo>
                    <a:pt x="85476" y="5120"/>
                  </a:lnTo>
                  <a:lnTo>
                    <a:pt x="90572" y="0"/>
                  </a:lnTo>
                  <a:lnTo>
                    <a:pt x="167189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55375" y="3245775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0" y="3691"/>
                  </a:moveTo>
                  <a:cubicBezTo>
                    <a:pt x="0" y="1655"/>
                    <a:pt x="1644" y="0"/>
                    <a:pt x="3691" y="0"/>
                  </a:cubicBezTo>
                  <a:cubicBezTo>
                    <a:pt x="5727" y="0"/>
                    <a:pt x="7382" y="1655"/>
                    <a:pt x="7382" y="3691"/>
                  </a:cubicBezTo>
                  <a:cubicBezTo>
                    <a:pt x="7382" y="5727"/>
                    <a:pt x="5727" y="7382"/>
                    <a:pt x="3691" y="7382"/>
                  </a:cubicBezTo>
                  <a:cubicBezTo>
                    <a:pt x="1644" y="7394"/>
                    <a:pt x="0" y="5751"/>
                    <a:pt x="0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3"/>
          <p:cNvGrpSpPr/>
          <p:nvPr/>
        </p:nvGrpSpPr>
        <p:grpSpPr>
          <a:xfrm flipH="1">
            <a:off x="60" y="250384"/>
            <a:ext cx="4954238" cy="886972"/>
            <a:chOff x="1358103" y="3291921"/>
            <a:chExt cx="3368397" cy="603054"/>
          </a:xfrm>
        </p:grpSpPr>
        <p:sp>
          <p:nvSpPr>
            <p:cNvPr id="29" name="Google Shape;29;p3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358103" y="3291921"/>
              <a:ext cx="125123" cy="125328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8339918" y="228501"/>
            <a:ext cx="534767" cy="286894"/>
            <a:chOff x="773350" y="518000"/>
            <a:chExt cx="2757950" cy="1479600"/>
          </a:xfrm>
        </p:grpSpPr>
        <p:sp>
          <p:nvSpPr>
            <p:cNvPr id="32" name="Google Shape;32;p3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2115300" y="185246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"/>
          </p:nvPr>
        </p:nvSpPr>
        <p:spPr>
          <a:xfrm>
            <a:off x="2115300" y="234071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"/>
          </p:nvPr>
        </p:nvSpPr>
        <p:spPr>
          <a:xfrm>
            <a:off x="2115300" y="315564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3"/>
          </p:nvPr>
        </p:nvSpPr>
        <p:spPr>
          <a:xfrm>
            <a:off x="2115300" y="364389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4"/>
          </p:nvPr>
        </p:nvSpPr>
        <p:spPr>
          <a:xfrm>
            <a:off x="5752775" y="185246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5"/>
          </p:nvPr>
        </p:nvSpPr>
        <p:spPr>
          <a:xfrm>
            <a:off x="5752775" y="234071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6"/>
          </p:nvPr>
        </p:nvSpPr>
        <p:spPr>
          <a:xfrm>
            <a:off x="5752779" y="3155643"/>
            <a:ext cx="2179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7"/>
          </p:nvPr>
        </p:nvSpPr>
        <p:spPr>
          <a:xfrm>
            <a:off x="5752775" y="3643890"/>
            <a:ext cx="2179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8" hasCustomPrompt="1"/>
          </p:nvPr>
        </p:nvSpPr>
        <p:spPr>
          <a:xfrm>
            <a:off x="1212025" y="21352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9" hasCustomPrompt="1"/>
          </p:nvPr>
        </p:nvSpPr>
        <p:spPr>
          <a:xfrm>
            <a:off x="1212025" y="3456313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13" hasCustomPrompt="1"/>
          </p:nvPr>
        </p:nvSpPr>
        <p:spPr>
          <a:xfrm>
            <a:off x="4849500" y="21352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14" hasCustomPrompt="1"/>
          </p:nvPr>
        </p:nvSpPr>
        <p:spPr>
          <a:xfrm>
            <a:off x="4849500" y="3456313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15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/>
          <p:nvPr/>
        </p:nvSpPr>
        <p:spPr>
          <a:xfrm>
            <a:off x="5824775" y="-119957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" name="Google Shape;130;p14"/>
          <p:cNvGrpSpPr/>
          <p:nvPr/>
        </p:nvGrpSpPr>
        <p:grpSpPr>
          <a:xfrm flipH="1">
            <a:off x="191" y="180418"/>
            <a:ext cx="2598996" cy="484774"/>
            <a:chOff x="1298650" y="3255600"/>
            <a:chExt cx="3427850" cy="639375"/>
          </a:xfrm>
        </p:grpSpPr>
        <p:sp>
          <p:nvSpPr>
            <p:cNvPr id="131" name="Google Shape;131;p14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2092611" y="1852475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ubTitle" idx="1"/>
          </p:nvPr>
        </p:nvSpPr>
        <p:spPr>
          <a:xfrm>
            <a:off x="2092610" y="2340722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title" idx="2"/>
          </p:nvPr>
        </p:nvSpPr>
        <p:spPr>
          <a:xfrm>
            <a:off x="3444597" y="3567454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subTitle" idx="3"/>
          </p:nvPr>
        </p:nvSpPr>
        <p:spPr>
          <a:xfrm>
            <a:off x="3444594" y="4055700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title" idx="4"/>
          </p:nvPr>
        </p:nvSpPr>
        <p:spPr>
          <a:xfrm>
            <a:off x="4796582" y="1852475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5"/>
          </p:nvPr>
        </p:nvSpPr>
        <p:spPr>
          <a:xfrm>
            <a:off x="4796579" y="2340722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 idx="6"/>
          </p:nvPr>
        </p:nvSpPr>
        <p:spPr>
          <a:xfrm>
            <a:off x="6148568" y="3567454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subTitle" idx="7"/>
          </p:nvPr>
        </p:nvSpPr>
        <p:spPr>
          <a:xfrm>
            <a:off x="6148564" y="4055700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 idx="8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title" idx="9"/>
          </p:nvPr>
        </p:nvSpPr>
        <p:spPr>
          <a:xfrm>
            <a:off x="740625" y="3567454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ubTitle" idx="13"/>
          </p:nvPr>
        </p:nvSpPr>
        <p:spPr>
          <a:xfrm>
            <a:off x="740625" y="4055700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title" idx="14" hasCustomPrompt="1"/>
          </p:nvPr>
        </p:nvSpPr>
        <p:spPr>
          <a:xfrm>
            <a:off x="1421175" y="30593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 idx="15" hasCustomPrompt="1"/>
          </p:nvPr>
        </p:nvSpPr>
        <p:spPr>
          <a:xfrm>
            <a:off x="4142300" y="30593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4"/>
          <p:cNvSpPr txBox="1">
            <a:spLocks noGrp="1"/>
          </p:cNvSpPr>
          <p:nvPr>
            <p:ph type="title" idx="16" hasCustomPrompt="1"/>
          </p:nvPr>
        </p:nvSpPr>
        <p:spPr>
          <a:xfrm>
            <a:off x="6863425" y="3059338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4"/>
          <p:cNvSpPr txBox="1">
            <a:spLocks noGrp="1"/>
          </p:cNvSpPr>
          <p:nvPr>
            <p:ph type="title" idx="17" hasCustomPrompt="1"/>
          </p:nvPr>
        </p:nvSpPr>
        <p:spPr>
          <a:xfrm>
            <a:off x="5502863" y="1344375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4"/>
          <p:cNvSpPr txBox="1">
            <a:spLocks noGrp="1"/>
          </p:cNvSpPr>
          <p:nvPr>
            <p:ph type="title" idx="18" hasCustomPrompt="1"/>
          </p:nvPr>
        </p:nvSpPr>
        <p:spPr>
          <a:xfrm>
            <a:off x="2781738" y="1344375"/>
            <a:ext cx="818100" cy="484800"/>
          </a:xfrm>
          <a:prstGeom prst="rect">
            <a:avLst/>
          </a:prstGeom>
          <a:effectLst>
            <a:outerShdw blurRad="114300" dist="19050" dir="27600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5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4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 rot="10800000" flipH="1">
            <a:off x="6938500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1372200" y="2465025"/>
            <a:ext cx="6399600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1"/>
          </p:nvPr>
        </p:nvSpPr>
        <p:spPr>
          <a:xfrm>
            <a:off x="1372200" y="3221875"/>
            <a:ext cx="63996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4"/>
          <p:cNvSpPr/>
          <p:nvPr/>
        </p:nvSpPr>
        <p:spPr>
          <a:xfrm rot="10800000" flipH="1">
            <a:off x="-1273325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4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4972850" y="799825"/>
            <a:ext cx="3266400" cy="225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subTitle" idx="1"/>
          </p:nvPr>
        </p:nvSpPr>
        <p:spPr>
          <a:xfrm>
            <a:off x="4972850" y="3098996"/>
            <a:ext cx="3266400" cy="11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5"/>
          <p:cNvSpPr/>
          <p:nvPr/>
        </p:nvSpPr>
        <p:spPr>
          <a:xfrm rot="10800000" flipH="1">
            <a:off x="-1273325" y="-878200"/>
            <a:ext cx="3450900" cy="34509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5"/>
          <p:cNvSpPr>
            <a:spLocks noGrp="1"/>
          </p:cNvSpPr>
          <p:nvPr>
            <p:ph type="pic" idx="2"/>
          </p:nvPr>
        </p:nvSpPr>
        <p:spPr>
          <a:xfrm>
            <a:off x="0" y="175"/>
            <a:ext cx="3813000" cy="51435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2"/>
          <p:cNvSpPr/>
          <p:nvPr/>
        </p:nvSpPr>
        <p:spPr>
          <a:xfrm>
            <a:off x="-793775" y="-80042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850" y="104461"/>
            <a:ext cx="3347900" cy="20288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1" name="Google Shape;551;p52"/>
          <p:cNvGrpSpPr/>
          <p:nvPr/>
        </p:nvGrpSpPr>
        <p:grpSpPr>
          <a:xfrm flipH="1">
            <a:off x="256575" y="4506113"/>
            <a:ext cx="1154625" cy="430500"/>
            <a:chOff x="4042650" y="642025"/>
            <a:chExt cx="1154625" cy="430500"/>
          </a:xfrm>
        </p:grpSpPr>
        <p:sp>
          <p:nvSpPr>
            <p:cNvPr id="552" name="Google Shape;552;p52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2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52"/>
          <p:cNvSpPr/>
          <p:nvPr/>
        </p:nvSpPr>
        <p:spPr>
          <a:xfrm>
            <a:off x="7091100" y="3009575"/>
            <a:ext cx="2679600" cy="26796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3"/>
          <p:cNvSpPr/>
          <p:nvPr/>
        </p:nvSpPr>
        <p:spPr>
          <a:xfrm>
            <a:off x="5152050" y="10177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53"/>
          <p:cNvSpPr/>
          <p:nvPr/>
        </p:nvSpPr>
        <p:spPr>
          <a:xfrm>
            <a:off x="-695325" y="-12740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3"/>
          <p:cNvSpPr/>
          <p:nvPr/>
        </p:nvSpPr>
        <p:spPr>
          <a:xfrm>
            <a:off x="535025" y="277250"/>
            <a:ext cx="8073900" cy="4589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8608950" y="22477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3"/>
          <p:cNvSpPr/>
          <p:nvPr/>
        </p:nvSpPr>
        <p:spPr>
          <a:xfrm>
            <a:off x="239550" y="4663425"/>
            <a:ext cx="295500" cy="2553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rot="10800000" flipH="1">
            <a:off x="5304450" y="-1045425"/>
            <a:ext cx="4059000" cy="40590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4"/>
          <p:cNvSpPr/>
          <p:nvPr/>
        </p:nvSpPr>
        <p:spPr>
          <a:xfrm rot="10800000" flipH="1">
            <a:off x="-542925" y="393125"/>
            <a:ext cx="4912200" cy="49122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4" name="Google Shape;564;p54"/>
          <p:cNvGrpSpPr/>
          <p:nvPr/>
        </p:nvGrpSpPr>
        <p:grpSpPr>
          <a:xfrm>
            <a:off x="368731" y="360425"/>
            <a:ext cx="780400" cy="357900"/>
            <a:chOff x="4598506" y="471425"/>
            <a:chExt cx="780400" cy="357900"/>
          </a:xfrm>
        </p:grpSpPr>
        <p:sp>
          <p:nvSpPr>
            <p:cNvPr id="565" name="Google Shape;565;p54"/>
            <p:cNvSpPr/>
            <p:nvPr/>
          </p:nvSpPr>
          <p:spPr>
            <a:xfrm rot="5400000">
              <a:off x="50381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4"/>
            <p:cNvSpPr/>
            <p:nvPr/>
          </p:nvSpPr>
          <p:spPr>
            <a:xfrm rot="5400000">
              <a:off x="4581406" y="488525"/>
              <a:ext cx="357900" cy="3237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54"/>
          <p:cNvGrpSpPr/>
          <p:nvPr/>
        </p:nvGrpSpPr>
        <p:grpSpPr>
          <a:xfrm rot="10800000" flipH="1">
            <a:off x="-12" y="4570483"/>
            <a:ext cx="2780508" cy="357877"/>
            <a:chOff x="198225" y="4390550"/>
            <a:chExt cx="3765075" cy="484600"/>
          </a:xfrm>
        </p:grpSpPr>
        <p:sp>
          <p:nvSpPr>
            <p:cNvPr id="568" name="Google Shape;568;p54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4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54"/>
          <p:cNvGrpSpPr/>
          <p:nvPr/>
        </p:nvGrpSpPr>
        <p:grpSpPr>
          <a:xfrm>
            <a:off x="7083488" y="215150"/>
            <a:ext cx="2060513" cy="357885"/>
            <a:chOff x="6363488" y="215150"/>
            <a:chExt cx="2060513" cy="357885"/>
          </a:xfrm>
        </p:grpSpPr>
        <p:sp>
          <p:nvSpPr>
            <p:cNvPr id="571" name="Google Shape;571;p54"/>
            <p:cNvSpPr/>
            <p:nvPr/>
          </p:nvSpPr>
          <p:spPr>
            <a:xfrm flipH="1">
              <a:off x="6499827" y="215150"/>
              <a:ext cx="1924174" cy="289732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4"/>
            <p:cNvSpPr/>
            <p:nvPr/>
          </p:nvSpPr>
          <p:spPr>
            <a:xfrm flipH="1">
              <a:off x="6363488" y="436726"/>
              <a:ext cx="136309" cy="136309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55"/>
          <p:cNvPicPr preferRelativeResize="0"/>
          <p:nvPr/>
        </p:nvPicPr>
        <p:blipFill rotWithShape="1">
          <a:blip r:embed="rId3">
            <a:alphaModFix/>
          </a:blip>
          <a:srcRect b="47712"/>
          <a:stretch/>
        </p:blipFill>
        <p:spPr>
          <a:xfrm>
            <a:off x="3489225" y="4122300"/>
            <a:ext cx="3222850" cy="1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5"/>
          <p:cNvPicPr preferRelativeResize="0"/>
          <p:nvPr/>
        </p:nvPicPr>
        <p:blipFill rotWithShape="1">
          <a:blip r:embed="rId3">
            <a:alphaModFix/>
          </a:blip>
          <a:srcRect t="47712"/>
          <a:stretch/>
        </p:blipFill>
        <p:spPr>
          <a:xfrm>
            <a:off x="5977075" y="0"/>
            <a:ext cx="3222850" cy="10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BM Plex Sans"/>
              <a:buNone/>
              <a:defRPr sz="35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●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○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 Medium"/>
              <a:buChar char="■"/>
              <a:defRPr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0" r:id="rId5"/>
    <p:sldLayoutId id="2147483670" r:id="rId6"/>
    <p:sldLayoutId id="2147483671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9502" y="728648"/>
            <a:ext cx="7406042" cy="1723800"/>
          </a:xfrm>
        </p:spPr>
        <p:txBody>
          <a:bodyPr/>
          <a:lstStyle/>
          <a:p>
            <a:r>
              <a:rPr lang="ru-RU" sz="2800" dirty="0" smtClean="0"/>
              <a:t>Азербайджанский Государственный Университет Нефти и Промышленности</a:t>
            </a:r>
            <a:endParaRPr lang="ru-RU" sz="2800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355185" y="2278608"/>
            <a:ext cx="6009633" cy="1393167"/>
          </a:xfrm>
        </p:spPr>
        <p:txBody>
          <a:bodyPr/>
          <a:lstStyle/>
          <a:p>
            <a:r>
              <a:rPr lang="ru-RU" dirty="0" smtClean="0"/>
              <a:t>Предмет</a:t>
            </a:r>
            <a:r>
              <a:rPr lang="en-US" dirty="0" smtClean="0"/>
              <a:t>: </a:t>
            </a:r>
            <a:r>
              <a:rPr lang="ru-RU" dirty="0" smtClean="0"/>
              <a:t>Веб-системы </a:t>
            </a:r>
            <a:r>
              <a:rPr lang="ru-RU" smtClean="0"/>
              <a:t>и технологии</a:t>
            </a:r>
            <a:endParaRPr lang="en-US" dirty="0" smtClean="0"/>
          </a:p>
          <a:p>
            <a:r>
              <a:rPr lang="ru-RU" dirty="0" smtClean="0"/>
              <a:t>Преподаватели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 smtClean="0"/>
              <a:t>Халилов </a:t>
            </a:r>
            <a:r>
              <a:rPr lang="ru-RU" dirty="0" err="1" smtClean="0"/>
              <a:t>Матлаб</a:t>
            </a:r>
            <a:r>
              <a:rPr lang="ru-RU" dirty="0" smtClean="0"/>
              <a:t>, Алиев </a:t>
            </a:r>
            <a:r>
              <a:rPr lang="ru-RU" dirty="0" err="1" smtClean="0"/>
              <a:t>Джамиль</a:t>
            </a:r>
            <a:endParaRPr lang="en-US" dirty="0" smtClean="0"/>
          </a:p>
          <a:p>
            <a:r>
              <a:rPr lang="ru-RU" dirty="0" smtClean="0"/>
              <a:t>Тема презентации</a:t>
            </a:r>
            <a:r>
              <a:rPr lang="en-US" dirty="0" smtClean="0"/>
              <a:t>:</a:t>
            </a:r>
            <a:r>
              <a:rPr lang="ru-RU" dirty="0"/>
              <a:t> </a:t>
            </a:r>
            <a:r>
              <a:rPr lang="ru-RU" dirty="0"/>
              <a:t>Разработка </a:t>
            </a:r>
            <a:r>
              <a:rPr lang="ru-RU" dirty="0" smtClean="0"/>
              <a:t>онлайновой информационно-справочной </a:t>
            </a:r>
            <a:r>
              <a:rPr lang="ru-RU" dirty="0"/>
              <a:t>системы для </a:t>
            </a:r>
            <a:r>
              <a:rPr lang="ru-RU" dirty="0" smtClean="0"/>
              <a:t>аптек</a:t>
            </a:r>
          </a:p>
          <a:p>
            <a:r>
              <a:rPr lang="ru-RU" dirty="0" smtClean="0"/>
              <a:t>Группа</a:t>
            </a:r>
            <a:r>
              <a:rPr lang="en-US" dirty="0" smtClean="0"/>
              <a:t>:</a:t>
            </a:r>
            <a:r>
              <a:rPr lang="ru-RU" dirty="0" smtClean="0"/>
              <a:t> 680.23</a:t>
            </a:r>
            <a:endParaRPr lang="en-US" dirty="0" smtClean="0"/>
          </a:p>
          <a:p>
            <a:r>
              <a:rPr lang="ru-RU" dirty="0" smtClean="0"/>
              <a:t>Студент</a:t>
            </a:r>
            <a:r>
              <a:rPr lang="en-US" dirty="0" smtClean="0"/>
              <a:t>:</a:t>
            </a:r>
            <a:r>
              <a:rPr lang="ru-RU" dirty="0" smtClean="0"/>
              <a:t> Насруллаев </a:t>
            </a:r>
            <a:r>
              <a:rPr lang="ru-RU" dirty="0" err="1" smtClean="0"/>
              <a:t>Вюсал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578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3"/>
          <p:cNvSpPr/>
          <p:nvPr/>
        </p:nvSpPr>
        <p:spPr>
          <a:xfrm>
            <a:off x="257800" y="121777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63"/>
          <p:cNvSpPr/>
          <p:nvPr/>
        </p:nvSpPr>
        <p:spPr>
          <a:xfrm>
            <a:off x="1212025" y="3289663"/>
            <a:ext cx="818100" cy="8181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3"/>
          <p:cNvSpPr/>
          <p:nvPr/>
        </p:nvSpPr>
        <p:spPr>
          <a:xfrm>
            <a:off x="4849500" y="1968588"/>
            <a:ext cx="818100" cy="8181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63"/>
          <p:cNvSpPr/>
          <p:nvPr/>
        </p:nvSpPr>
        <p:spPr>
          <a:xfrm>
            <a:off x="4849500" y="3289663"/>
            <a:ext cx="818100" cy="8181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63"/>
          <p:cNvSpPr/>
          <p:nvPr/>
        </p:nvSpPr>
        <p:spPr>
          <a:xfrm>
            <a:off x="1212025" y="1968588"/>
            <a:ext cx="818100" cy="8181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3"/>
          <p:cNvSpPr txBox="1">
            <a:spLocks noGrp="1"/>
          </p:cNvSpPr>
          <p:nvPr>
            <p:ph type="title" idx="15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/>
              <a:t>Актуальность и цели проекта</a:t>
            </a:r>
            <a:endParaRPr dirty="0"/>
          </a:p>
        </p:txBody>
      </p:sp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2026013" y="2136447"/>
            <a:ext cx="2827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dirty="0" err="1" smtClean="0"/>
              <a:t>Цифровизация</a:t>
            </a:r>
            <a:r>
              <a:rPr lang="en-US" sz="1800" dirty="0" smtClean="0"/>
              <a:t>:</a:t>
            </a:r>
            <a:r>
              <a:rPr lang="ru-RU" sz="1800" dirty="0" smtClean="0"/>
              <a:t> </a:t>
            </a:r>
            <a:r>
              <a:rPr lang="ru-RU" sz="1800" b="0" dirty="0" smtClean="0"/>
              <a:t>Переход фармацевтических услуг в онлайн-среду</a:t>
            </a:r>
            <a:endParaRPr sz="1800" b="0" dirty="0"/>
          </a:p>
        </p:txBody>
      </p:sp>
      <p:sp>
        <p:nvSpPr>
          <p:cNvPr id="625" name="Google Shape;625;p63"/>
          <p:cNvSpPr txBox="1">
            <a:spLocks noGrp="1"/>
          </p:cNvSpPr>
          <p:nvPr>
            <p:ph type="title" idx="2"/>
          </p:nvPr>
        </p:nvSpPr>
        <p:spPr>
          <a:xfrm>
            <a:off x="2021899" y="3711702"/>
            <a:ext cx="3178609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dirty="0" smtClean="0"/>
              <a:t>Цель</a:t>
            </a:r>
            <a:r>
              <a:rPr lang="en-US" sz="1800" dirty="0" smtClean="0"/>
              <a:t>: 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b="0" dirty="0" smtClean="0"/>
              <a:t>Создание высокопроизводительной системы поиска без тяжелых </a:t>
            </a:r>
            <a:r>
              <a:rPr lang="ru-RU" sz="1800" b="0" dirty="0" err="1" smtClean="0"/>
              <a:t>фреймворков</a:t>
            </a:r>
            <a:endParaRPr sz="1800" b="0" dirty="0"/>
          </a:p>
        </p:txBody>
      </p:sp>
      <p:sp>
        <p:nvSpPr>
          <p:cNvPr id="627" name="Google Shape;627;p63"/>
          <p:cNvSpPr txBox="1">
            <a:spLocks noGrp="1"/>
          </p:cNvSpPr>
          <p:nvPr>
            <p:ph type="title" idx="4"/>
          </p:nvPr>
        </p:nvSpPr>
        <p:spPr>
          <a:xfrm>
            <a:off x="5700598" y="2070680"/>
            <a:ext cx="329907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1800" dirty="0" smtClean="0"/>
              <a:t>Доступность</a:t>
            </a:r>
            <a:r>
              <a:rPr lang="en-US" sz="1800" dirty="0" smtClean="0"/>
              <a:t>:</a:t>
            </a:r>
            <a:r>
              <a:rPr lang="ru-RU" sz="1800" dirty="0" smtClean="0"/>
              <a:t> </a:t>
            </a:r>
            <a:br>
              <a:rPr lang="ru-RU" sz="1800" dirty="0" smtClean="0"/>
            </a:br>
            <a:r>
              <a:rPr lang="ru-RU" sz="1800" b="0" dirty="0" smtClean="0"/>
              <a:t>Обеспечение граждан быстрой информацией о наличии лекарств</a:t>
            </a:r>
            <a:endParaRPr sz="1800" b="0" dirty="0"/>
          </a:p>
        </p:txBody>
      </p:sp>
      <p:sp>
        <p:nvSpPr>
          <p:cNvPr id="629" name="Google Shape;629;p63"/>
          <p:cNvSpPr txBox="1">
            <a:spLocks noGrp="1"/>
          </p:cNvSpPr>
          <p:nvPr>
            <p:ph type="title" idx="6"/>
          </p:nvPr>
        </p:nvSpPr>
        <p:spPr>
          <a:xfrm>
            <a:off x="5752775" y="3467326"/>
            <a:ext cx="357828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 smtClean="0"/>
              <a:t>UX-</a:t>
            </a:r>
            <a:r>
              <a:rPr lang="ru-RU" sz="1800" dirty="0" smtClean="0"/>
              <a:t>дизайн</a:t>
            </a:r>
            <a:r>
              <a:rPr lang="en-US" sz="1800" dirty="0" smtClean="0"/>
              <a:t>: 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b="0" dirty="0" smtClean="0"/>
              <a:t>Удобство для всех категорий пользователей</a:t>
            </a:r>
            <a:endParaRPr sz="1800" b="0" dirty="0"/>
          </a:p>
        </p:txBody>
      </p:sp>
      <p:sp>
        <p:nvSpPr>
          <p:cNvPr id="631" name="Google Shape;631;p63"/>
          <p:cNvSpPr txBox="1">
            <a:spLocks noGrp="1"/>
          </p:cNvSpPr>
          <p:nvPr>
            <p:ph type="title" idx="8"/>
          </p:nvPr>
        </p:nvSpPr>
        <p:spPr>
          <a:xfrm>
            <a:off x="1212025" y="2135238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2" name="Google Shape;632;p63"/>
          <p:cNvSpPr txBox="1">
            <a:spLocks noGrp="1"/>
          </p:cNvSpPr>
          <p:nvPr>
            <p:ph type="title" idx="9"/>
          </p:nvPr>
        </p:nvSpPr>
        <p:spPr>
          <a:xfrm>
            <a:off x="1212025" y="3456313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33" name="Google Shape;633;p63"/>
          <p:cNvSpPr txBox="1">
            <a:spLocks noGrp="1"/>
          </p:cNvSpPr>
          <p:nvPr>
            <p:ph type="title" idx="13"/>
          </p:nvPr>
        </p:nvSpPr>
        <p:spPr>
          <a:xfrm>
            <a:off x="4849500" y="2135238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4" name="Google Shape;634;p63"/>
          <p:cNvSpPr txBox="1">
            <a:spLocks noGrp="1"/>
          </p:cNvSpPr>
          <p:nvPr>
            <p:ph type="title" idx="14"/>
          </p:nvPr>
        </p:nvSpPr>
        <p:spPr>
          <a:xfrm>
            <a:off x="4849500" y="3456313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635" name="Google Shape;635;p63"/>
          <p:cNvGrpSpPr/>
          <p:nvPr/>
        </p:nvGrpSpPr>
        <p:grpSpPr>
          <a:xfrm rot="5400000" flipH="1">
            <a:off x="7772276" y="3210773"/>
            <a:ext cx="2029024" cy="1088542"/>
            <a:chOff x="773350" y="518000"/>
            <a:chExt cx="2757950" cy="1479600"/>
          </a:xfrm>
        </p:grpSpPr>
        <p:sp>
          <p:nvSpPr>
            <p:cNvPr id="636" name="Google Shape;636;p63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3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3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39" name="Google Shape;63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9458" y="0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63"/>
          <p:cNvGrpSpPr/>
          <p:nvPr/>
        </p:nvGrpSpPr>
        <p:grpSpPr>
          <a:xfrm flipH="1">
            <a:off x="191" y="4320418"/>
            <a:ext cx="2598996" cy="484774"/>
            <a:chOff x="1298650" y="3255600"/>
            <a:chExt cx="3427850" cy="639375"/>
          </a:xfrm>
        </p:grpSpPr>
        <p:sp>
          <p:nvSpPr>
            <p:cNvPr id="641" name="Google Shape;641;p63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3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3" name="Google Shape;643;p63"/>
          <p:cNvGrpSpPr/>
          <p:nvPr/>
        </p:nvGrpSpPr>
        <p:grpSpPr>
          <a:xfrm rot="10800000" flipH="1">
            <a:off x="6545016" y="1175943"/>
            <a:ext cx="2598996" cy="484774"/>
            <a:chOff x="1298650" y="3255600"/>
            <a:chExt cx="3427850" cy="639375"/>
          </a:xfrm>
        </p:grpSpPr>
        <p:sp>
          <p:nvSpPr>
            <p:cNvPr id="644" name="Google Shape;644;p63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3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646;p63"/>
          <p:cNvGrpSpPr/>
          <p:nvPr/>
        </p:nvGrpSpPr>
        <p:grpSpPr>
          <a:xfrm>
            <a:off x="7350136" y="569081"/>
            <a:ext cx="1163678" cy="63948"/>
            <a:chOff x="3779200" y="1371600"/>
            <a:chExt cx="1992600" cy="109500"/>
          </a:xfrm>
        </p:grpSpPr>
        <p:sp>
          <p:nvSpPr>
            <p:cNvPr id="647" name="Google Shape;647;p63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3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3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3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3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3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225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456" b="1456"/>
          <a:stretch/>
        </p:blipFill>
        <p:spPr>
          <a:xfrm>
            <a:off x="0" y="175"/>
            <a:ext cx="3813000" cy="5143500"/>
          </a:xfrm>
          <a:prstGeom prst="snip2DiagRect">
            <a:avLst>
              <a:gd name="adj1" fmla="val 0"/>
              <a:gd name="adj2" fmla="val 16667"/>
            </a:avLst>
          </a:prstGeom>
        </p:spPr>
      </p:pic>
      <p:sp>
        <p:nvSpPr>
          <p:cNvPr id="794" name="Google Shape;794;p71"/>
          <p:cNvSpPr/>
          <p:nvPr/>
        </p:nvSpPr>
        <p:spPr>
          <a:xfrm>
            <a:off x="206375" y="152250"/>
            <a:ext cx="3768600" cy="4839000"/>
          </a:xfrm>
          <a:prstGeom prst="snip2DiagRect">
            <a:avLst>
              <a:gd name="adj1" fmla="val 0"/>
              <a:gd name="adj2" fmla="val 32236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00013" algn="bl" rotWithShape="0">
              <a:schemeClr val="l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71"/>
          <p:cNvSpPr txBox="1">
            <a:spLocks noGrp="1"/>
          </p:cNvSpPr>
          <p:nvPr>
            <p:ph type="title"/>
          </p:nvPr>
        </p:nvSpPr>
        <p:spPr>
          <a:xfrm>
            <a:off x="4350922" y="614303"/>
            <a:ext cx="3266400" cy="13669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/>
              <a:t>Технологии и архитектура</a:t>
            </a:r>
            <a:endParaRPr dirty="0"/>
          </a:p>
        </p:txBody>
      </p:sp>
      <p:sp>
        <p:nvSpPr>
          <p:cNvPr id="796" name="Google Shape;796;p71"/>
          <p:cNvSpPr txBox="1">
            <a:spLocks noGrp="1"/>
          </p:cNvSpPr>
          <p:nvPr>
            <p:ph type="subTitle" idx="1"/>
          </p:nvPr>
        </p:nvSpPr>
        <p:spPr>
          <a:xfrm>
            <a:off x="4350922" y="2016234"/>
            <a:ext cx="3495905" cy="11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b="1" dirty="0">
                <a:latin typeface="IBM Plex Sans"/>
                <a:ea typeface="IBM Plex Sans"/>
                <a:cs typeface="IBM Plex Sans"/>
                <a:sym typeface="IBM Plex Sans"/>
              </a:rPr>
              <a:t>Система построена на принципах </a:t>
            </a:r>
            <a:r>
              <a:rPr lang="ru-RU" sz="1800" b="1" dirty="0" err="1">
                <a:latin typeface="IBM Plex Sans"/>
                <a:ea typeface="IBM Plex Sans"/>
                <a:cs typeface="IBM Plex Sans"/>
                <a:sym typeface="IBM Plex Sans"/>
              </a:rPr>
              <a:t>Native</a:t>
            </a:r>
            <a:r>
              <a:rPr lang="ru-RU" sz="1800" b="1" dirty="0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ru-RU" sz="1800" b="1" dirty="0" err="1">
                <a:latin typeface="IBM Plex Sans"/>
                <a:ea typeface="IBM Plex Sans"/>
                <a:cs typeface="IBM Plex Sans"/>
                <a:sym typeface="IBM Plex Sans"/>
              </a:rPr>
              <a:t>Web</a:t>
            </a:r>
            <a:r>
              <a:rPr lang="ru-RU" sz="1800" b="1" dirty="0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ru-RU" sz="1800" b="1" dirty="0" err="1">
                <a:latin typeface="IBM Plex Sans"/>
                <a:ea typeface="IBM Plex Sans"/>
                <a:cs typeface="IBM Plex Sans"/>
                <a:sym typeface="IBM Plex Sans"/>
              </a:rPr>
              <a:t>Development</a:t>
            </a:r>
            <a:r>
              <a:rPr lang="ru-RU" sz="1800" b="1" dirty="0">
                <a:latin typeface="IBM Plex Sans"/>
                <a:ea typeface="IBM Plex Sans"/>
                <a:cs typeface="IBM Plex Sans"/>
                <a:sym typeface="IBM Plex Sans"/>
              </a:rPr>
              <a:t> для достижения максимального быстродействия</a:t>
            </a:r>
            <a:endParaRPr lang="ru-RU" sz="1800" b="1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7" name="Google Shape;797;p71"/>
          <p:cNvGrpSpPr/>
          <p:nvPr/>
        </p:nvGrpSpPr>
        <p:grpSpPr>
          <a:xfrm flipH="1">
            <a:off x="7455750" y="1175513"/>
            <a:ext cx="1154625" cy="430500"/>
            <a:chOff x="4042650" y="642025"/>
            <a:chExt cx="1154625" cy="430500"/>
          </a:xfrm>
        </p:grpSpPr>
        <p:sp>
          <p:nvSpPr>
            <p:cNvPr id="798" name="Google Shape;798;p71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71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71"/>
          <p:cNvGrpSpPr/>
          <p:nvPr/>
        </p:nvGrpSpPr>
        <p:grpSpPr>
          <a:xfrm>
            <a:off x="6545016" y="4405718"/>
            <a:ext cx="2598996" cy="484774"/>
            <a:chOff x="1298650" y="3255600"/>
            <a:chExt cx="3427850" cy="639375"/>
          </a:xfrm>
        </p:grpSpPr>
        <p:sp>
          <p:nvSpPr>
            <p:cNvPr id="801" name="Google Shape;801;p71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71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4"/>
          <p:cNvSpPr/>
          <p:nvPr/>
        </p:nvSpPr>
        <p:spPr>
          <a:xfrm>
            <a:off x="2834286" y="1232023"/>
            <a:ext cx="709500" cy="7095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64"/>
          <p:cNvSpPr/>
          <p:nvPr/>
        </p:nvSpPr>
        <p:spPr>
          <a:xfrm>
            <a:off x="5558908" y="1232023"/>
            <a:ext cx="709500" cy="7095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64"/>
          <p:cNvSpPr/>
          <p:nvPr/>
        </p:nvSpPr>
        <p:spPr>
          <a:xfrm>
            <a:off x="4175945" y="2775669"/>
            <a:ext cx="709500" cy="709500"/>
          </a:xfrm>
          <a:prstGeom prst="ellipse">
            <a:avLst/>
          </a:prstGeom>
          <a:solidFill>
            <a:schemeClr val="dk1">
              <a:alpha val="37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64"/>
          <p:cNvSpPr txBox="1">
            <a:spLocks noGrp="1"/>
          </p:cNvSpPr>
          <p:nvPr>
            <p:ph type="title"/>
          </p:nvPr>
        </p:nvSpPr>
        <p:spPr>
          <a:xfrm>
            <a:off x="2092611" y="1852475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HTML5</a:t>
            </a:r>
            <a:endParaRPr dirty="0"/>
          </a:p>
        </p:txBody>
      </p:sp>
      <p:sp>
        <p:nvSpPr>
          <p:cNvPr id="663" name="Google Shape;663;p64"/>
          <p:cNvSpPr txBox="1">
            <a:spLocks noGrp="1"/>
          </p:cNvSpPr>
          <p:nvPr>
            <p:ph type="subTitle" idx="1"/>
          </p:nvPr>
        </p:nvSpPr>
        <p:spPr>
          <a:xfrm>
            <a:off x="2092610" y="2340722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 smtClean="0"/>
              <a:t>Семантическая структура и доступность интерфейса</a:t>
            </a:r>
            <a:endParaRPr dirty="0"/>
          </a:p>
        </p:txBody>
      </p:sp>
      <p:sp>
        <p:nvSpPr>
          <p:cNvPr id="666" name="Google Shape;666;p64"/>
          <p:cNvSpPr txBox="1">
            <a:spLocks noGrp="1"/>
          </p:cNvSpPr>
          <p:nvPr>
            <p:ph type="title" idx="4"/>
          </p:nvPr>
        </p:nvSpPr>
        <p:spPr>
          <a:xfrm>
            <a:off x="4796582" y="1852475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CSS3</a:t>
            </a:r>
            <a:endParaRPr dirty="0"/>
          </a:p>
        </p:txBody>
      </p:sp>
      <p:sp>
        <p:nvSpPr>
          <p:cNvPr id="667" name="Google Shape;667;p64"/>
          <p:cNvSpPr txBox="1">
            <a:spLocks noGrp="1"/>
          </p:cNvSpPr>
          <p:nvPr>
            <p:ph type="subTitle" idx="5"/>
          </p:nvPr>
        </p:nvSpPr>
        <p:spPr>
          <a:xfrm>
            <a:off x="4796579" y="2340722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 smtClean="0"/>
              <a:t>Адаптивная верстка</a:t>
            </a:r>
            <a:r>
              <a:rPr lang="en-US" dirty="0"/>
              <a:t> </a:t>
            </a:r>
            <a:r>
              <a:rPr lang="en-US" dirty="0" smtClean="0"/>
              <a:t>(Flexbox &amp; Grid), CSS- </a:t>
            </a:r>
            <a:r>
              <a:rPr lang="ru-RU" dirty="0" smtClean="0"/>
              <a:t>переменные.</a:t>
            </a:r>
            <a:endParaRPr dirty="0"/>
          </a:p>
        </p:txBody>
      </p:sp>
      <p:sp>
        <p:nvSpPr>
          <p:cNvPr id="670" name="Google Shape;670;p64"/>
          <p:cNvSpPr txBox="1">
            <a:spLocks noGrp="1"/>
          </p:cNvSpPr>
          <p:nvPr>
            <p:ph type="title" idx="9"/>
          </p:nvPr>
        </p:nvSpPr>
        <p:spPr>
          <a:xfrm>
            <a:off x="3444595" y="3396121"/>
            <a:ext cx="2254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Vanilla JS</a:t>
            </a:r>
            <a:endParaRPr dirty="0"/>
          </a:p>
        </p:txBody>
      </p:sp>
      <p:sp>
        <p:nvSpPr>
          <p:cNvPr id="671" name="Google Shape;671;p64"/>
          <p:cNvSpPr txBox="1">
            <a:spLocks noGrp="1"/>
          </p:cNvSpPr>
          <p:nvPr>
            <p:ph type="title" idx="14"/>
          </p:nvPr>
        </p:nvSpPr>
        <p:spPr>
          <a:xfrm>
            <a:off x="4125145" y="2888005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74" name="Google Shape;674;p64"/>
          <p:cNvSpPr txBox="1">
            <a:spLocks noGrp="1"/>
          </p:cNvSpPr>
          <p:nvPr>
            <p:ph type="title" idx="8"/>
          </p:nvPr>
        </p:nvSpPr>
        <p:spPr>
          <a:xfrm>
            <a:off x="720000" y="43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/>
              <a:t>Используемые языки</a:t>
            </a:r>
            <a:endParaRPr dirty="0"/>
          </a:p>
        </p:txBody>
      </p:sp>
      <p:sp>
        <p:nvSpPr>
          <p:cNvPr id="675" name="Google Shape;675;p64"/>
          <p:cNvSpPr txBox="1">
            <a:spLocks noGrp="1"/>
          </p:cNvSpPr>
          <p:nvPr>
            <p:ph type="subTitle" idx="13"/>
          </p:nvPr>
        </p:nvSpPr>
        <p:spPr>
          <a:xfrm>
            <a:off x="3444595" y="3858207"/>
            <a:ext cx="2254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 smtClean="0"/>
              <a:t>Логика фильтрации и управления </a:t>
            </a:r>
            <a:r>
              <a:rPr lang="en-US" dirty="0" smtClean="0"/>
              <a:t>DOM  </a:t>
            </a:r>
            <a:r>
              <a:rPr lang="ru-RU" dirty="0" smtClean="0"/>
              <a:t>на чистом коде</a:t>
            </a:r>
            <a:endParaRPr dirty="0"/>
          </a:p>
        </p:txBody>
      </p:sp>
      <p:sp>
        <p:nvSpPr>
          <p:cNvPr id="676" name="Google Shape;676;p64"/>
          <p:cNvSpPr txBox="1">
            <a:spLocks noGrp="1"/>
          </p:cNvSpPr>
          <p:nvPr>
            <p:ph type="title" idx="17"/>
          </p:nvPr>
        </p:nvSpPr>
        <p:spPr>
          <a:xfrm>
            <a:off x="5502863" y="1344375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77" name="Google Shape;677;p64"/>
          <p:cNvSpPr txBox="1">
            <a:spLocks noGrp="1"/>
          </p:cNvSpPr>
          <p:nvPr>
            <p:ph type="title" idx="18"/>
          </p:nvPr>
        </p:nvSpPr>
        <p:spPr>
          <a:xfrm>
            <a:off x="2781738" y="1344375"/>
            <a:ext cx="818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678" name="Google Shape;678;p64"/>
          <p:cNvGrpSpPr/>
          <p:nvPr/>
        </p:nvGrpSpPr>
        <p:grpSpPr>
          <a:xfrm>
            <a:off x="903663" y="1394813"/>
            <a:ext cx="1154625" cy="430500"/>
            <a:chOff x="4042650" y="642025"/>
            <a:chExt cx="1154625" cy="430500"/>
          </a:xfrm>
        </p:grpSpPr>
        <p:sp>
          <p:nvSpPr>
            <p:cNvPr id="679" name="Google Shape;679;p64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64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64"/>
          <p:cNvGrpSpPr/>
          <p:nvPr/>
        </p:nvGrpSpPr>
        <p:grpSpPr>
          <a:xfrm>
            <a:off x="7065063" y="1394813"/>
            <a:ext cx="1154625" cy="430500"/>
            <a:chOff x="4042650" y="642025"/>
            <a:chExt cx="1154625" cy="430500"/>
          </a:xfrm>
        </p:grpSpPr>
        <p:sp>
          <p:nvSpPr>
            <p:cNvPr id="682" name="Google Shape;682;p64"/>
            <p:cNvSpPr/>
            <p:nvPr/>
          </p:nvSpPr>
          <p:spPr>
            <a:xfrm>
              <a:off x="4042650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4"/>
            <p:cNvSpPr/>
            <p:nvPr/>
          </p:nvSpPr>
          <p:spPr>
            <a:xfrm>
              <a:off x="4699275" y="642025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/>
          <p:nvPr/>
        </p:nvSpPr>
        <p:spPr>
          <a:xfrm rot="10800000" flipH="1">
            <a:off x="4157408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61"/>
          <p:cNvSpPr/>
          <p:nvPr/>
        </p:nvSpPr>
        <p:spPr>
          <a:xfrm>
            <a:off x="301550" y="229225"/>
            <a:ext cx="4685100" cy="4685100"/>
          </a:xfrm>
          <a:prstGeom prst="ellipse">
            <a:avLst/>
          </a:prstGeom>
          <a:gradFill>
            <a:gsLst>
              <a:gs pos="0">
                <a:srgbClr val="FFFFFF">
                  <a:alpha val="1529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1"/>
          <p:cNvSpPr txBox="1">
            <a:spLocks noGrp="1"/>
          </p:cNvSpPr>
          <p:nvPr>
            <p:ph type="ctrTitle"/>
          </p:nvPr>
        </p:nvSpPr>
        <p:spPr>
          <a:xfrm>
            <a:off x="4485445" y="-771323"/>
            <a:ext cx="4713767" cy="22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800" dirty="0" smtClean="0"/>
              <a:t>Ключевой функционал</a:t>
            </a:r>
            <a:endParaRPr sz="2000" b="0" dirty="0"/>
          </a:p>
        </p:txBody>
      </p:sp>
      <p:pic>
        <p:nvPicPr>
          <p:cNvPr id="595" name="Google Shape;5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117" y="-259000"/>
            <a:ext cx="2441750" cy="147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67" y="3469125"/>
            <a:ext cx="2441750" cy="1479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7" name="Google Shape;597;p61"/>
          <p:cNvGrpSpPr/>
          <p:nvPr/>
        </p:nvGrpSpPr>
        <p:grpSpPr>
          <a:xfrm>
            <a:off x="3663700" y="4429725"/>
            <a:ext cx="3765075" cy="484600"/>
            <a:chOff x="198225" y="4390550"/>
            <a:chExt cx="3765075" cy="484600"/>
          </a:xfrm>
        </p:grpSpPr>
        <p:sp>
          <p:nvSpPr>
            <p:cNvPr id="598" name="Google Shape;598;p61"/>
            <p:cNvSpPr/>
            <p:nvPr/>
          </p:nvSpPr>
          <p:spPr>
            <a:xfrm>
              <a:off x="198225" y="4390550"/>
              <a:ext cx="3580525" cy="392325"/>
            </a:xfrm>
            <a:custGeom>
              <a:avLst/>
              <a:gdLst/>
              <a:ahLst/>
              <a:cxnLst/>
              <a:rect l="l" t="t" r="r" b="b"/>
              <a:pathLst>
                <a:path w="143221" h="15693" fill="none" extrusionOk="0">
                  <a:moveTo>
                    <a:pt x="1" y="7585"/>
                  </a:moveTo>
                  <a:lnTo>
                    <a:pt x="21063" y="7585"/>
                  </a:lnTo>
                  <a:lnTo>
                    <a:pt x="28659" y="1"/>
                  </a:lnTo>
                  <a:lnTo>
                    <a:pt x="118492" y="1"/>
                  </a:lnTo>
                  <a:lnTo>
                    <a:pt x="134172" y="15693"/>
                  </a:lnTo>
                  <a:lnTo>
                    <a:pt x="143221" y="1569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1"/>
            <p:cNvSpPr/>
            <p:nvPr/>
          </p:nvSpPr>
          <p:spPr>
            <a:xfrm>
              <a:off x="3778725" y="4690575"/>
              <a:ext cx="184575" cy="184575"/>
            </a:xfrm>
            <a:custGeom>
              <a:avLst/>
              <a:gdLst/>
              <a:ahLst/>
              <a:cxnLst/>
              <a:rect l="l" t="t" r="r" b="b"/>
              <a:pathLst>
                <a:path w="7383" h="7383" fill="none" extrusionOk="0">
                  <a:moveTo>
                    <a:pt x="1" y="3692"/>
                  </a:moveTo>
                  <a:cubicBezTo>
                    <a:pt x="1" y="1656"/>
                    <a:pt x="1656" y="1"/>
                    <a:pt x="3692" y="1"/>
                  </a:cubicBezTo>
                  <a:cubicBezTo>
                    <a:pt x="5728" y="1"/>
                    <a:pt x="7383" y="1656"/>
                    <a:pt x="7383" y="3692"/>
                  </a:cubicBezTo>
                  <a:cubicBezTo>
                    <a:pt x="7383" y="5728"/>
                    <a:pt x="5728" y="7383"/>
                    <a:pt x="3692" y="7383"/>
                  </a:cubicBezTo>
                  <a:cubicBezTo>
                    <a:pt x="1656" y="7383"/>
                    <a:pt x="1" y="5728"/>
                    <a:pt x="1" y="36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0" name="Google Shape;600;p61"/>
          <p:cNvGrpSpPr/>
          <p:nvPr/>
        </p:nvGrpSpPr>
        <p:grpSpPr>
          <a:xfrm>
            <a:off x="5716150" y="279150"/>
            <a:ext cx="3427850" cy="639375"/>
            <a:chOff x="1298650" y="3255600"/>
            <a:chExt cx="3427850" cy="639375"/>
          </a:xfrm>
        </p:grpSpPr>
        <p:sp>
          <p:nvSpPr>
            <p:cNvPr id="601" name="Google Shape;601;p61"/>
            <p:cNvSpPr/>
            <p:nvPr/>
          </p:nvSpPr>
          <p:spPr>
            <a:xfrm>
              <a:off x="1483200" y="3347875"/>
              <a:ext cx="3243300" cy="547100"/>
            </a:xfrm>
            <a:custGeom>
              <a:avLst/>
              <a:gdLst/>
              <a:ahLst/>
              <a:cxnLst/>
              <a:rect l="l" t="t" r="r" b="b"/>
              <a:pathLst>
                <a:path w="129732" h="21884" fill="none" extrusionOk="0">
                  <a:moveTo>
                    <a:pt x="129731" y="11311"/>
                  </a:moveTo>
                  <a:lnTo>
                    <a:pt x="100335" y="11311"/>
                  </a:lnTo>
                  <a:lnTo>
                    <a:pt x="89738" y="21884"/>
                  </a:lnTo>
                  <a:lnTo>
                    <a:pt x="34529" y="21884"/>
                  </a:lnTo>
                  <a:lnTo>
                    <a:pt x="12633" y="0"/>
                  </a:ln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1"/>
            <p:cNvSpPr/>
            <p:nvPr/>
          </p:nvSpPr>
          <p:spPr>
            <a:xfrm>
              <a:off x="1298650" y="3255600"/>
              <a:ext cx="184575" cy="184850"/>
            </a:xfrm>
            <a:custGeom>
              <a:avLst/>
              <a:gdLst/>
              <a:ahLst/>
              <a:cxnLst/>
              <a:rect l="l" t="t" r="r" b="b"/>
              <a:pathLst>
                <a:path w="7383" h="7394" fill="none" extrusionOk="0">
                  <a:moveTo>
                    <a:pt x="1" y="3691"/>
                  </a:moveTo>
                  <a:cubicBezTo>
                    <a:pt x="1" y="1643"/>
                    <a:pt x="1644" y="0"/>
                    <a:pt x="3692" y="0"/>
                  </a:cubicBezTo>
                  <a:cubicBezTo>
                    <a:pt x="5728" y="0"/>
                    <a:pt x="7383" y="1643"/>
                    <a:pt x="7383" y="3691"/>
                  </a:cubicBezTo>
                  <a:cubicBezTo>
                    <a:pt x="7383" y="5727"/>
                    <a:pt x="5728" y="7382"/>
                    <a:pt x="3692" y="7382"/>
                  </a:cubicBezTo>
                  <a:cubicBezTo>
                    <a:pt x="1644" y="7394"/>
                    <a:pt x="1" y="5727"/>
                    <a:pt x="1" y="36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61"/>
          <p:cNvGrpSpPr/>
          <p:nvPr/>
        </p:nvGrpSpPr>
        <p:grpSpPr>
          <a:xfrm rot="5400000">
            <a:off x="314598" y="741345"/>
            <a:ext cx="871512" cy="467554"/>
            <a:chOff x="773350" y="518000"/>
            <a:chExt cx="2757950" cy="1479600"/>
          </a:xfrm>
        </p:grpSpPr>
        <p:sp>
          <p:nvSpPr>
            <p:cNvPr id="604" name="Google Shape;604;p61"/>
            <p:cNvSpPr/>
            <p:nvPr/>
          </p:nvSpPr>
          <p:spPr>
            <a:xfrm>
              <a:off x="258270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61"/>
            <p:cNvSpPr/>
            <p:nvPr/>
          </p:nvSpPr>
          <p:spPr>
            <a:xfrm>
              <a:off x="1678025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1"/>
            <p:cNvSpPr/>
            <p:nvPr/>
          </p:nvSpPr>
          <p:spPr>
            <a:xfrm>
              <a:off x="773350" y="518000"/>
              <a:ext cx="948600" cy="1479600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FFFFFF">
                    <a:alpha val="2980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71" y="1506577"/>
            <a:ext cx="4027347" cy="2264464"/>
          </a:xfrm>
          <a:prstGeom prst="roundRect">
            <a:avLst/>
          </a:prstGeom>
          <a:ln w="19050">
            <a:solidFill>
              <a:schemeClr val="bg1"/>
            </a:solidFill>
          </a:ln>
        </p:spPr>
      </p:pic>
      <p:sp>
        <p:nvSpPr>
          <p:cNvPr id="20" name="Google Shape;592;p61"/>
          <p:cNvSpPr txBox="1">
            <a:spLocks/>
          </p:cNvSpPr>
          <p:nvPr/>
        </p:nvSpPr>
        <p:spPr>
          <a:xfrm>
            <a:off x="4485445" y="1960729"/>
            <a:ext cx="4713767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60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BM Plex Sans"/>
              <a:buNone/>
              <a:defRPr sz="5200" b="1" i="0" u="none" strike="noStrike" cap="non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n-US" sz="1600" dirty="0" smtClean="0"/>
              <a:t>Live Search: </a:t>
            </a:r>
            <a:r>
              <a:rPr lang="ru-RU" sz="1600" b="0" dirty="0" smtClean="0"/>
              <a:t>Фильтрация данных при каждом вводе символа.</a:t>
            </a:r>
          </a:p>
          <a:p>
            <a:endParaRPr lang="ru-RU" sz="1600" b="0" dirty="0" smtClean="0"/>
          </a:p>
          <a:p>
            <a:r>
              <a:rPr lang="ru-RU" sz="1600" dirty="0" smtClean="0"/>
              <a:t>Категории</a:t>
            </a:r>
            <a:r>
              <a:rPr lang="en-US" sz="1600" dirty="0" smtClean="0"/>
              <a:t>: </a:t>
            </a:r>
            <a:r>
              <a:rPr lang="ru-RU" sz="1600" b="0" dirty="0" smtClean="0"/>
              <a:t>Удобная сортировка по фармакологическим группам.</a:t>
            </a:r>
          </a:p>
          <a:p>
            <a:endParaRPr lang="ru-RU" sz="1600" b="0" dirty="0" smtClean="0"/>
          </a:p>
          <a:p>
            <a:r>
              <a:rPr lang="ru-RU" sz="1600" dirty="0" smtClean="0"/>
              <a:t>Модальные окна</a:t>
            </a:r>
            <a:r>
              <a:rPr lang="en-US" sz="1600" dirty="0" smtClean="0"/>
              <a:t>: </a:t>
            </a:r>
            <a:r>
              <a:rPr lang="ru-RU" sz="1600" b="0" dirty="0" smtClean="0"/>
              <a:t>Подробная Информация без перезагрузки страницы.</a:t>
            </a:r>
          </a:p>
          <a:p>
            <a:endParaRPr lang="ru-RU" sz="1600" b="0" dirty="0" smtClean="0"/>
          </a:p>
          <a:p>
            <a:r>
              <a:rPr lang="ru-RU" sz="1600" dirty="0" smtClean="0"/>
              <a:t>Адаптивность</a:t>
            </a:r>
            <a:r>
              <a:rPr lang="en-US" sz="1600" dirty="0" smtClean="0"/>
              <a:t>: </a:t>
            </a:r>
            <a:r>
              <a:rPr lang="ru-RU" sz="1600" b="0" dirty="0" smtClean="0"/>
              <a:t>Поддержка мобильных устройств и планшетов.</a:t>
            </a:r>
            <a:endParaRPr lang="ru-RU" sz="1200" b="0" dirty="0"/>
          </a:p>
        </p:txBody>
      </p:sp>
    </p:spTree>
    <p:extLst>
      <p:ext uri="{BB962C8B-B14F-4D97-AF65-F5344CB8AC3E}">
        <p14:creationId xmlns:p14="http://schemas.microsoft.com/office/powerpoint/2010/main" val="188078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9"/>
          <p:cNvSpPr txBox="1">
            <a:spLocks noGrp="1"/>
          </p:cNvSpPr>
          <p:nvPr>
            <p:ph type="title"/>
          </p:nvPr>
        </p:nvSpPr>
        <p:spPr>
          <a:xfrm>
            <a:off x="1384392" y="2788113"/>
            <a:ext cx="6570888" cy="7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Спасибо за внимание !</a:t>
            </a:r>
            <a:endParaRPr dirty="0"/>
          </a:p>
        </p:txBody>
      </p:sp>
      <p:grpSp>
        <p:nvGrpSpPr>
          <p:cNvPr id="747" name="Google Shape;747;p69"/>
          <p:cNvGrpSpPr/>
          <p:nvPr/>
        </p:nvGrpSpPr>
        <p:grpSpPr>
          <a:xfrm>
            <a:off x="6968225" y="1501913"/>
            <a:ext cx="1154625" cy="1014150"/>
            <a:chOff x="6968225" y="1501913"/>
            <a:chExt cx="1154625" cy="1014150"/>
          </a:xfrm>
        </p:grpSpPr>
        <p:grpSp>
          <p:nvGrpSpPr>
            <p:cNvPr id="748" name="Google Shape;748;p69"/>
            <p:cNvGrpSpPr/>
            <p:nvPr/>
          </p:nvGrpSpPr>
          <p:grpSpPr>
            <a:xfrm flipH="1">
              <a:off x="6968225" y="2085563"/>
              <a:ext cx="1154625" cy="430500"/>
              <a:chOff x="4042650" y="642025"/>
              <a:chExt cx="1154625" cy="430500"/>
            </a:xfrm>
          </p:grpSpPr>
          <p:sp>
            <p:nvSpPr>
              <p:cNvPr id="749" name="Google Shape;749;p69"/>
              <p:cNvSpPr/>
              <p:nvPr/>
            </p:nvSpPr>
            <p:spPr>
              <a:xfrm>
                <a:off x="4042650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69"/>
              <p:cNvSpPr/>
              <p:nvPr/>
            </p:nvSpPr>
            <p:spPr>
              <a:xfrm>
                <a:off x="4699275" y="642025"/>
                <a:ext cx="498000" cy="430500"/>
              </a:xfrm>
              <a:prstGeom prst="snip2DiagRect">
                <a:avLst>
                  <a:gd name="adj1" fmla="val 0"/>
                  <a:gd name="adj2" fmla="val 32236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00013" algn="bl" rotWithShape="0">
                  <a:schemeClr val="l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1" name="Google Shape;751;p69"/>
            <p:cNvSpPr/>
            <p:nvPr/>
          </p:nvSpPr>
          <p:spPr>
            <a:xfrm flipH="1">
              <a:off x="7624850" y="1501913"/>
              <a:ext cx="498000" cy="430500"/>
            </a:xfrm>
            <a:prstGeom prst="snip2DiagRect">
              <a:avLst>
                <a:gd name="adj1" fmla="val 0"/>
                <a:gd name="adj2" fmla="val 3223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0013" algn="bl" rotWithShape="0">
                <a:schemeClr val="l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69"/>
          <p:cNvGrpSpPr/>
          <p:nvPr/>
        </p:nvGrpSpPr>
        <p:grpSpPr>
          <a:xfrm rot="5400000">
            <a:off x="359852" y="1089229"/>
            <a:ext cx="1163678" cy="63948"/>
            <a:chOff x="3779200" y="1371600"/>
            <a:chExt cx="1992600" cy="109500"/>
          </a:xfrm>
        </p:grpSpPr>
        <p:sp>
          <p:nvSpPr>
            <p:cNvPr id="753" name="Google Shape;753;p69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9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9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9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9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9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69"/>
          <p:cNvGrpSpPr/>
          <p:nvPr/>
        </p:nvGrpSpPr>
        <p:grpSpPr>
          <a:xfrm rot="5400000">
            <a:off x="606877" y="1089229"/>
            <a:ext cx="1163678" cy="63948"/>
            <a:chOff x="3779200" y="1371600"/>
            <a:chExt cx="1992600" cy="109500"/>
          </a:xfrm>
        </p:grpSpPr>
        <p:sp>
          <p:nvSpPr>
            <p:cNvPr id="760" name="Google Shape;760;p69"/>
            <p:cNvSpPr/>
            <p:nvPr/>
          </p:nvSpPr>
          <p:spPr>
            <a:xfrm>
              <a:off x="37792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9"/>
            <p:cNvSpPr/>
            <p:nvPr/>
          </p:nvSpPr>
          <p:spPr>
            <a:xfrm>
              <a:off x="415582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9"/>
            <p:cNvSpPr/>
            <p:nvPr/>
          </p:nvSpPr>
          <p:spPr>
            <a:xfrm>
              <a:off x="453244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9"/>
            <p:cNvSpPr/>
            <p:nvPr/>
          </p:nvSpPr>
          <p:spPr>
            <a:xfrm>
              <a:off x="490906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9"/>
            <p:cNvSpPr/>
            <p:nvPr/>
          </p:nvSpPr>
          <p:spPr>
            <a:xfrm>
              <a:off x="528568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9"/>
            <p:cNvSpPr/>
            <p:nvPr/>
          </p:nvSpPr>
          <p:spPr>
            <a:xfrm>
              <a:off x="5662300" y="1371600"/>
              <a:ext cx="109500" cy="109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66" name="Google Shape;766;p69"/>
          <p:cNvPicPr preferRelativeResize="0"/>
          <p:nvPr/>
        </p:nvPicPr>
        <p:blipFill rotWithShape="1">
          <a:blip r:embed="rId3">
            <a:alphaModFix/>
          </a:blip>
          <a:srcRect t="6540" b="4603"/>
          <a:stretch/>
        </p:blipFill>
        <p:spPr>
          <a:xfrm>
            <a:off x="2865675" y="446900"/>
            <a:ext cx="3412649" cy="2104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886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orean AI Agency Pitch Deck XL by Slidesgo">
  <a:themeElements>
    <a:clrScheme name="Simple Light">
      <a:dk1>
        <a:srgbClr val="000328"/>
      </a:dk1>
      <a:lt1>
        <a:srgbClr val="FFFFFF"/>
      </a:lt1>
      <a:dk2>
        <a:srgbClr val="E0A9A8"/>
      </a:dk2>
      <a:lt2>
        <a:srgbClr val="005C8F"/>
      </a:lt2>
      <a:accent1>
        <a:srgbClr val="6128F6"/>
      </a:accent1>
      <a:accent2>
        <a:srgbClr val="5C65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143</Words>
  <Application>Microsoft Office PowerPoint</Application>
  <PresentationFormat>Экран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IBM Plex Sans Medium</vt:lpstr>
      <vt:lpstr>Arial</vt:lpstr>
      <vt:lpstr>IBM Plex Sans</vt:lpstr>
      <vt:lpstr>Korean AI Agency Pitch Deck XL by Slidesgo</vt:lpstr>
      <vt:lpstr>Азербайджанский Государственный Университет Нефти и Промышленности</vt:lpstr>
      <vt:lpstr>Актуальность и цели проекта</vt:lpstr>
      <vt:lpstr>Технологии и архитектура</vt:lpstr>
      <vt:lpstr>HTML5</vt:lpstr>
      <vt:lpstr>Ключевой функционал</vt:lpstr>
      <vt:lpstr>Спасибо за внимание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Korean AI Agency Pitch Deck</dc:title>
  <dc:creator>Vusal</dc:creator>
  <cp:lastModifiedBy>Vusal</cp:lastModifiedBy>
  <cp:revision>12</cp:revision>
  <dcterms:modified xsi:type="dcterms:W3CDTF">2026-05-11T14:28:45Z</dcterms:modified>
</cp:coreProperties>
</file>